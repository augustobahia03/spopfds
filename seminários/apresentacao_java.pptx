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65D"/>
    <a:srgbClr val="00F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96742FDA-7845-B890-1DBD-DEBF117030B9}"/>
              </a:ext>
            </a:extLst>
          </p:cNvPr>
          <p:cNvSpPr/>
          <p:nvPr/>
        </p:nvSpPr>
        <p:spPr>
          <a:xfrm>
            <a:off x="658367" y="3291225"/>
            <a:ext cx="7463078" cy="2844866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  <a:effectLst>
            <a:glow rad="101600">
              <a:srgbClr val="00F2C4">
                <a:alpha val="6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2400" b="1" dirty="0">
              <a:solidFill>
                <a:srgbClr val="F4FAF9"/>
              </a:solidFill>
              <a:latin typeface="Apto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80" y="640080"/>
            <a:ext cx="2377440" cy="2377440"/>
          </a:xfrm>
          <a:prstGeom prst="ellipse">
            <a:avLst/>
          </a:prstGeom>
          <a:solidFill>
            <a:srgbClr val="0D665D"/>
          </a:solidFill>
          <a:ln w="1397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32520" y="960120"/>
            <a:ext cx="1737360" cy="1737360"/>
          </a:xfrm>
          <a:prstGeom prst="ellipse">
            <a:avLst/>
          </a:prstGeom>
          <a:solidFill>
            <a:schemeClr val="bg1"/>
          </a:solidFill>
          <a:ln w="13970"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561" y="960120"/>
            <a:ext cx="621792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800" b="1" dirty="0">
                <a:solidFill>
                  <a:srgbClr val="F4FAF9"/>
                </a:solidFill>
                <a:latin typeface="Aptos"/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548312"/>
            <a:ext cx="7123176" cy="126803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000" b="1" dirty="0" err="1">
                <a:solidFill>
                  <a:srgbClr val="00F2C4"/>
                </a:solidFill>
                <a:latin typeface="Aptos"/>
              </a:rPr>
              <a:t>Fundamentos</a:t>
            </a:r>
            <a:r>
              <a:rPr sz="4000" b="1" dirty="0">
                <a:solidFill>
                  <a:srgbClr val="00F2C4"/>
                </a:solidFill>
                <a:latin typeface="Aptos"/>
              </a:rPr>
              <a:t> e</a:t>
            </a:r>
            <a:endParaRPr lang="pt-BR" sz="4000" b="1" dirty="0">
              <a:solidFill>
                <a:srgbClr val="00F2C4"/>
              </a:solidFill>
              <a:latin typeface="Aptos"/>
            </a:endParaRPr>
          </a:p>
          <a:p>
            <a:pPr algn="l"/>
            <a:r>
              <a:rPr lang="pt-BR" sz="4000" b="1" dirty="0">
                <a:solidFill>
                  <a:srgbClr val="00F2C4"/>
                </a:solidFill>
                <a:latin typeface="Aptos"/>
              </a:rPr>
              <a:t>B</a:t>
            </a:r>
            <a:r>
              <a:rPr sz="4000" b="1" dirty="0" err="1">
                <a:solidFill>
                  <a:srgbClr val="00F2C4"/>
                </a:solidFill>
                <a:latin typeface="Aptos"/>
              </a:rPr>
              <a:t>oas</a:t>
            </a:r>
            <a:r>
              <a:rPr sz="4000" b="1" dirty="0">
                <a:solidFill>
                  <a:srgbClr val="00F2C4"/>
                </a:solidFill>
                <a:latin typeface="Aptos"/>
              </a:rPr>
              <a:t> </a:t>
            </a:r>
            <a:r>
              <a:rPr sz="4000" b="1" dirty="0" err="1">
                <a:solidFill>
                  <a:srgbClr val="00F2C4"/>
                </a:solidFill>
                <a:latin typeface="Aptos"/>
              </a:rPr>
              <a:t>práticas</a:t>
            </a:r>
            <a:endParaRPr sz="4000" b="1" dirty="0">
              <a:solidFill>
                <a:srgbClr val="00F2C4"/>
              </a:solidFill>
              <a:latin typeface="Aptos"/>
            </a:endParaRPr>
          </a:p>
        </p:txBody>
      </p:sp>
      <p:pic>
        <p:nvPicPr>
          <p:cNvPr id="23" name="Imagem 22" descr="Ícones de java em SVG, PNG, AI para baixar.">
            <a:extLst>
              <a:ext uri="{FF2B5EF4-FFF2-40B4-BE49-F238E27FC236}">
                <a16:creationId xmlns:a16="http://schemas.microsoft.com/office/drawing/2014/main" id="{4090E238-8F55-5129-C4DC-49E40FDE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024128"/>
            <a:ext cx="1493885" cy="1493885"/>
          </a:xfrm>
          <a:prstGeom prst="rect">
            <a:avLst/>
          </a:prstGeom>
        </p:spPr>
      </p:pic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BF74FFB3-DE94-4253-A1E2-530DC60D144C}"/>
              </a:ext>
            </a:extLst>
          </p:cNvPr>
          <p:cNvSpPr/>
          <p:nvPr/>
        </p:nvSpPr>
        <p:spPr>
          <a:xfrm>
            <a:off x="8243071" y="4919675"/>
            <a:ext cx="3782174" cy="1188249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  <a:effectLst>
            <a:glow rad="63500">
              <a:srgbClr val="0D665D">
                <a:alpha val="4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Augusto Bahia</a:t>
            </a:r>
          </a:p>
          <a:p>
            <a:pPr algn="ctr"/>
            <a:r>
              <a:rPr lang="pt-BR" dirty="0"/>
              <a:t>Caio Kelvin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9629A646-47B4-9FBD-DEF9-E2050C42DA5D}"/>
              </a:ext>
            </a:extLst>
          </p:cNvPr>
          <p:cNvSpPr txBox="1"/>
          <p:nvPr/>
        </p:nvSpPr>
        <p:spPr>
          <a:xfrm>
            <a:off x="998956" y="3404470"/>
            <a:ext cx="621792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pt-BR" sz="2800" b="1" dirty="0">
                <a:solidFill>
                  <a:srgbClr val="F4FAF9"/>
                </a:solidFill>
                <a:latin typeface="Aptos"/>
              </a:rPr>
              <a:t>Agenda</a:t>
            </a:r>
            <a:endParaRPr sz="2800" b="1" dirty="0">
              <a:solidFill>
                <a:srgbClr val="F4FAF9"/>
              </a:solidFill>
              <a:latin typeface="Aptos"/>
            </a:endParaRP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81D7284D-4EBF-C9EE-B007-A489F54A14BE}"/>
              </a:ext>
            </a:extLst>
          </p:cNvPr>
          <p:cNvSpPr txBox="1"/>
          <p:nvPr/>
        </p:nvSpPr>
        <p:spPr>
          <a:xfrm>
            <a:off x="4925801" y="3925750"/>
            <a:ext cx="3254182" cy="15758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pt-BR" sz="2000" b="1" dirty="0">
                <a:solidFill>
                  <a:srgbClr val="F4FAF9"/>
                </a:solidFill>
                <a:latin typeface="Aptos"/>
              </a:rPr>
              <a:t>Introdução</a:t>
            </a:r>
          </a:p>
          <a:p>
            <a:pPr algn="l"/>
            <a:r>
              <a:rPr lang="pt-BR" sz="2000" b="1" dirty="0">
                <a:solidFill>
                  <a:srgbClr val="F4FAF9"/>
                </a:solidFill>
                <a:latin typeface="Aptos"/>
              </a:rPr>
              <a:t>Exemplos de código</a:t>
            </a:r>
          </a:p>
          <a:p>
            <a:pPr algn="l"/>
            <a:r>
              <a:rPr lang="pt-BR" sz="2000" b="1" dirty="0">
                <a:solidFill>
                  <a:srgbClr val="F4FAF9"/>
                </a:solidFill>
                <a:latin typeface="Aptos"/>
              </a:rPr>
              <a:t>Compilado </a:t>
            </a:r>
            <a:r>
              <a:rPr lang="pt-BR" sz="2000" b="1" dirty="0" err="1">
                <a:solidFill>
                  <a:srgbClr val="F4FAF9"/>
                </a:solidFill>
                <a:latin typeface="Aptos"/>
              </a:rPr>
              <a:t>Vs</a:t>
            </a:r>
            <a:r>
              <a:rPr lang="pt-BR" sz="2000" b="1" dirty="0">
                <a:solidFill>
                  <a:srgbClr val="F4FAF9"/>
                </a:solidFill>
                <a:latin typeface="Aptos"/>
              </a:rPr>
              <a:t> Interpretado</a:t>
            </a:r>
          </a:p>
          <a:p>
            <a:pPr algn="l"/>
            <a:r>
              <a:rPr lang="pt-BR" sz="2000" b="1" dirty="0">
                <a:solidFill>
                  <a:srgbClr val="F4FAF9"/>
                </a:solidFill>
                <a:latin typeface="Aptos"/>
              </a:rPr>
              <a:t>Convenção de nomes</a:t>
            </a:r>
          </a:p>
          <a:p>
            <a:pPr algn="l"/>
            <a:r>
              <a:rPr lang="pt-BR" sz="2000" b="1" dirty="0">
                <a:solidFill>
                  <a:srgbClr val="F4FAF9"/>
                </a:solidFill>
                <a:latin typeface="Aptos"/>
              </a:rPr>
              <a:t>Boas práticas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8E91775-996B-400B-57DD-E9BD7BBD6F3B}"/>
              </a:ext>
            </a:extLst>
          </p:cNvPr>
          <p:cNvSpPr txBox="1"/>
          <p:nvPr/>
        </p:nvSpPr>
        <p:spPr>
          <a:xfrm>
            <a:off x="1211486" y="3912591"/>
            <a:ext cx="287816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F4FAF9"/>
                </a:solidFill>
                <a:latin typeface="Aptos"/>
              </a:rPr>
              <a:t>Organização de projeto</a:t>
            </a:r>
          </a:p>
          <a:p>
            <a:r>
              <a:rPr lang="pt-BR" sz="2000" b="1" dirty="0">
                <a:solidFill>
                  <a:srgbClr val="F4FAF9"/>
                </a:solidFill>
                <a:latin typeface="Aptos"/>
              </a:rPr>
              <a:t>Tipos de dispositivos</a:t>
            </a:r>
          </a:p>
          <a:p>
            <a:r>
              <a:rPr lang="pt-BR" sz="2000" b="1" dirty="0">
                <a:solidFill>
                  <a:srgbClr val="F4FAF9"/>
                </a:solidFill>
                <a:latin typeface="Aptos"/>
              </a:rPr>
              <a:t>Área de atuação</a:t>
            </a:r>
          </a:p>
          <a:p>
            <a:r>
              <a:rPr lang="pt-BR" sz="2000" b="1" dirty="0">
                <a:solidFill>
                  <a:srgbClr val="F4FAF9"/>
                </a:solidFill>
                <a:latin typeface="Aptos"/>
              </a:rPr>
              <a:t>Documentação</a:t>
            </a:r>
          </a:p>
          <a:p>
            <a:r>
              <a:rPr lang="pt-BR" sz="2000" b="1" dirty="0">
                <a:solidFill>
                  <a:srgbClr val="F4FAF9"/>
                </a:solidFill>
                <a:latin typeface="Aptos"/>
              </a:rPr>
              <a:t>Ferramentas de </a:t>
            </a:r>
            <a:r>
              <a:rPr lang="pt-BR" sz="2000" b="1" dirty="0" err="1">
                <a:solidFill>
                  <a:srgbClr val="F4FAF9"/>
                </a:solidFill>
                <a:latin typeface="Aptos"/>
              </a:rPr>
              <a:t>lint</a:t>
            </a:r>
            <a:endParaRPr lang="pt-BR" sz="200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2201506-2023-3047-1125-9C94FA7798BD}"/>
              </a:ext>
            </a:extLst>
          </p:cNvPr>
          <p:cNvSpPr/>
          <p:nvPr/>
        </p:nvSpPr>
        <p:spPr>
          <a:xfrm>
            <a:off x="916518" y="4004585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4FCF6A3-2CA9-84A9-4CFD-B86FDE8BD623}"/>
              </a:ext>
            </a:extLst>
          </p:cNvPr>
          <p:cNvSpPr/>
          <p:nvPr/>
        </p:nvSpPr>
        <p:spPr>
          <a:xfrm>
            <a:off x="916518" y="4305371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80CD3A9E-CE98-E674-8E48-63DEB81E6865}"/>
              </a:ext>
            </a:extLst>
          </p:cNvPr>
          <p:cNvSpPr/>
          <p:nvPr/>
        </p:nvSpPr>
        <p:spPr>
          <a:xfrm>
            <a:off x="916518" y="4612523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721EBA72-21A7-43E3-E998-1993FC936949}"/>
              </a:ext>
            </a:extLst>
          </p:cNvPr>
          <p:cNvSpPr/>
          <p:nvPr/>
        </p:nvSpPr>
        <p:spPr>
          <a:xfrm>
            <a:off x="916518" y="4919675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16D96AA-E7F6-181E-F565-C51859ADDF81}"/>
              </a:ext>
            </a:extLst>
          </p:cNvPr>
          <p:cNvSpPr/>
          <p:nvPr/>
        </p:nvSpPr>
        <p:spPr>
          <a:xfrm>
            <a:off x="916518" y="5227060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319D096-CD6E-C04A-6DC4-36A8A4C4DC82}"/>
              </a:ext>
            </a:extLst>
          </p:cNvPr>
          <p:cNvSpPr/>
          <p:nvPr/>
        </p:nvSpPr>
        <p:spPr>
          <a:xfrm>
            <a:off x="4570020" y="4004585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2D308C7-0277-0590-A6B8-530F2D72912C}"/>
              </a:ext>
            </a:extLst>
          </p:cNvPr>
          <p:cNvSpPr/>
          <p:nvPr/>
        </p:nvSpPr>
        <p:spPr>
          <a:xfrm>
            <a:off x="4570020" y="4305371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DE6DD9FB-87B2-D3C0-728C-8FB133FFA10B}"/>
              </a:ext>
            </a:extLst>
          </p:cNvPr>
          <p:cNvSpPr/>
          <p:nvPr/>
        </p:nvSpPr>
        <p:spPr>
          <a:xfrm>
            <a:off x="4570020" y="4612523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8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495944C5-13C8-0DE7-C1EB-6BC5834CCA9C}"/>
              </a:ext>
            </a:extLst>
          </p:cNvPr>
          <p:cNvSpPr/>
          <p:nvPr/>
        </p:nvSpPr>
        <p:spPr>
          <a:xfrm>
            <a:off x="4570020" y="4919675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9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CE205B16-4FBB-2211-DE10-87F136014531}"/>
              </a:ext>
            </a:extLst>
          </p:cNvPr>
          <p:cNvSpPr/>
          <p:nvPr/>
        </p:nvSpPr>
        <p:spPr>
          <a:xfrm>
            <a:off x="4570020" y="5227060"/>
            <a:ext cx="294968" cy="233570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4762F692-4929-1295-3151-6D35C95F5971}"/>
              </a:ext>
            </a:extLst>
          </p:cNvPr>
          <p:cNvSpPr txBox="1"/>
          <p:nvPr/>
        </p:nvSpPr>
        <p:spPr>
          <a:xfrm>
            <a:off x="4368922" y="5203619"/>
            <a:ext cx="697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0" name="Arco 49">
            <a:extLst>
              <a:ext uri="{FF2B5EF4-FFF2-40B4-BE49-F238E27FC236}">
                <a16:creationId xmlns:a16="http://schemas.microsoft.com/office/drawing/2014/main" id="{A00778E1-1CF8-3F89-0B19-6399C15D361E}"/>
              </a:ext>
            </a:extLst>
          </p:cNvPr>
          <p:cNvSpPr/>
          <p:nvPr/>
        </p:nvSpPr>
        <p:spPr>
          <a:xfrm>
            <a:off x="8270069" y="525780"/>
            <a:ext cx="2656529" cy="2689368"/>
          </a:xfrm>
          <a:prstGeom prst="arc">
            <a:avLst>
              <a:gd name="adj1" fmla="val 16561222"/>
              <a:gd name="adj2" fmla="val 1060039"/>
            </a:avLst>
          </a:prstGeom>
          <a:ln>
            <a:solidFill>
              <a:srgbClr val="00F2C4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Arco 51">
            <a:extLst>
              <a:ext uri="{FF2B5EF4-FFF2-40B4-BE49-F238E27FC236}">
                <a16:creationId xmlns:a16="http://schemas.microsoft.com/office/drawing/2014/main" id="{9193B732-B1D5-624B-6C19-F681FDF2FCA8}"/>
              </a:ext>
            </a:extLst>
          </p:cNvPr>
          <p:cNvSpPr/>
          <p:nvPr/>
        </p:nvSpPr>
        <p:spPr>
          <a:xfrm rot="9453800">
            <a:off x="8309228" y="560024"/>
            <a:ext cx="2656529" cy="2560319"/>
          </a:xfrm>
          <a:prstGeom prst="arc">
            <a:avLst>
              <a:gd name="adj1" fmla="val 16771211"/>
              <a:gd name="adj2" fmla="val 1146430"/>
            </a:avLst>
          </a:prstGeom>
          <a:ln>
            <a:solidFill>
              <a:srgbClr val="00F2C4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FC8A3CC6-AFD7-AD77-2C49-366F9F7F3994}"/>
              </a:ext>
            </a:extLst>
          </p:cNvPr>
          <p:cNvSpPr/>
          <p:nvPr/>
        </p:nvSpPr>
        <p:spPr>
          <a:xfrm>
            <a:off x="10778924" y="2242246"/>
            <a:ext cx="136678" cy="137652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524A0BA6-26EE-1D25-D980-13C4B23D29A7}"/>
              </a:ext>
            </a:extLst>
          </p:cNvPr>
          <p:cNvSpPr/>
          <p:nvPr/>
        </p:nvSpPr>
        <p:spPr>
          <a:xfrm>
            <a:off x="8243071" y="1801638"/>
            <a:ext cx="136678" cy="137652"/>
          </a:xfrm>
          <a:prstGeom prst="ellipse">
            <a:avLst/>
          </a:prstGeom>
          <a:solidFill>
            <a:srgbClr val="0D665D"/>
          </a:solidFill>
          <a:ln>
            <a:solidFill>
              <a:srgbClr val="00F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38411F1A-43F5-0B92-69F8-F296C3CAE2B4}"/>
              </a:ext>
            </a:extLst>
          </p:cNvPr>
          <p:cNvSpPr txBox="1"/>
          <p:nvPr/>
        </p:nvSpPr>
        <p:spPr>
          <a:xfrm>
            <a:off x="8400721" y="4913627"/>
            <a:ext cx="621792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pt-BR" sz="2800" b="1" dirty="0">
                <a:solidFill>
                  <a:srgbClr val="F4FAF9"/>
                </a:solidFill>
                <a:latin typeface="Aptos"/>
              </a:rPr>
              <a:t>Equipe</a:t>
            </a:r>
            <a:endParaRPr sz="2800" b="1" dirty="0">
              <a:solidFill>
                <a:srgbClr val="F4FAF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1. Introdução ao 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Uma linguagem popular, orientada a objetos e multiplataforma.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02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965960"/>
            <a:ext cx="3520440" cy="20574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" y="213055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07568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O QUE É JAVA?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496312"/>
            <a:ext cx="3154680" cy="14356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Linguagem de programação usada para criar aplicações robustas em diferentes ambientes.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965960"/>
            <a:ext cx="3520440" cy="20574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07992" y="213055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07568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CARACTERÍSTICAS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496312"/>
            <a:ext cx="3154680" cy="14356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Orientação a objetos, tipagem estática, bibliotecas amplas e gerenciamento automático de memória.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965960"/>
            <a:ext cx="3520440" cy="20574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57031" y="2130552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207568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PORTABILIDADE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496312"/>
            <a:ext cx="3154680" cy="14356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Com uma JVM compatível, o mesmo bytecode pode ser executado em diferentes sistemas.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17720"/>
            <a:ext cx="1645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00F2C4"/>
                </a:solidFill>
                <a:latin typeface="Aptos"/>
              </a:rPr>
              <a:t>IDEIA-CHAVE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56048"/>
            <a:ext cx="1078992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4FAF9"/>
                </a:solidFill>
                <a:latin typeface="Aptos"/>
              </a:rPr>
              <a:t>Escrever uma vez e executar em diferentes plataformas, respeitando as dependências do ambiente.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2. Exemplo básico de código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Hello World: o primeiro programa em Java.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03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874519"/>
            <a:ext cx="5715000" cy="3474720"/>
          </a:xfrm>
          <a:prstGeom prst="roundRect">
            <a:avLst/>
          </a:prstGeom>
          <a:solidFill>
            <a:srgbClr val="051F21"/>
          </a:solidFill>
          <a:ln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00F2C4"/>
                </a:solidFill>
                <a:latin typeface="Aptos"/>
              </a:rPr>
              <a:t>●  ●  ●     MAIN.JAVA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06040"/>
            <a:ext cx="5212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00F2C4"/>
                </a:solidFill>
                <a:latin typeface="Consolas"/>
              </a:rPr>
              <a:t>public class Main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81528"/>
            <a:ext cx="5212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57016"/>
            <a:ext cx="5212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31E0A5"/>
                </a:solidFill>
                <a:latin typeface="Consolas"/>
              </a:rPr>
              <a:t>        System.out.println("Hello World!");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32504"/>
            <a:ext cx="5212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Consolas"/>
              </a:rPr>
              <a:t>  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07992"/>
            <a:ext cx="5212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00F2C4"/>
                </a:solidFill>
                <a:latin typeface="Consolas"/>
              </a:rP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1874519"/>
            <a:ext cx="4572000" cy="96012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76872" y="203911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1984248"/>
            <a:ext cx="40690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AF9"/>
                </a:solidFill>
                <a:latin typeface="Aptos"/>
              </a:rPr>
              <a:t>class 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404872"/>
            <a:ext cx="420624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Declara uma classe chamada Main.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3035808"/>
            <a:ext cx="4572000" cy="96012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76872" y="3200400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145536"/>
            <a:ext cx="40690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AF9"/>
                </a:solidFill>
                <a:latin typeface="Aptos"/>
              </a:rPr>
              <a:t>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566160"/>
            <a:ext cx="420624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É o ponto de entrada da aplicação.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197096"/>
            <a:ext cx="4572000" cy="96012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76872" y="4361688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78040" y="4306824"/>
            <a:ext cx="40690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AF9"/>
                </a:solidFill>
                <a:latin typeface="Aptos"/>
              </a:rPr>
              <a:t>println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727448"/>
            <a:ext cx="420624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Exibe uma mensagem no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3. Java: compilado ou interpretado?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O processo combina compilação e execução pela máquina virtual.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04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331720"/>
            <a:ext cx="2331720" cy="14630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249631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441448"/>
            <a:ext cx="182879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CÓDIGO-FONTE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62072"/>
            <a:ext cx="1965960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01  •  .java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816352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00F2C4"/>
                </a:solidFill>
                <a:latin typeface="Aptos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331720"/>
            <a:ext cx="2331720" cy="14630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39312" y="249631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0" y="2441448"/>
            <a:ext cx="182879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COMPILADOR JAVAC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862072"/>
            <a:ext cx="1965960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02  •  bytecode .class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816352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00F2C4"/>
                </a:solidFill>
                <a:latin typeface="Aptos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2331720"/>
            <a:ext cx="2331720" cy="14630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47104" y="249631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2441448"/>
            <a:ext cx="182879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JVM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2862072"/>
            <a:ext cx="1965960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03  •  interpreta / JIT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816352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00F2C4"/>
                </a:solidFill>
                <a:latin typeface="Aptos"/>
              </a:rP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0304" y="2331720"/>
            <a:ext cx="2331720" cy="14630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454896" y="249631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56064" y="2441448"/>
            <a:ext cx="182879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EXECUÇÃO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3184" y="2862072"/>
            <a:ext cx="1965960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04  •  programa em 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389120"/>
            <a:ext cx="4800600" cy="109728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8992" y="455371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4498848"/>
            <a:ext cx="42976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JAVAC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919472"/>
            <a:ext cx="4434840" cy="4754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Transforma o código-fonte em bytecode.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389120"/>
            <a:ext cx="4800600" cy="109728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519672" y="455371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4498848"/>
            <a:ext cx="42976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JVM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919472"/>
            <a:ext cx="4434840" cy="4754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Executa o bytecode e pode usar JIT para otimizar trechos.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4. Convenção de nomes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Nomes consistentes tornam o código mais fácil de entender.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05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28800"/>
            <a:ext cx="5349240" cy="12344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" y="199339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1938528"/>
            <a:ext cx="48463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CLASSES  /  PascalCase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359152"/>
            <a:ext cx="4983479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A9C2C0"/>
                </a:solidFill>
                <a:latin typeface="Aptos"/>
              </a:rPr>
              <a:t>Cliente  •  ContaBancaria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349240" cy="12344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99339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938528"/>
            <a:ext cx="48463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MÉTODOS E VARIÁVEIS  /  camelCase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59152"/>
            <a:ext cx="4983479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A9C2C0"/>
                </a:solidFill>
                <a:latin typeface="Aptos"/>
              </a:rPr>
              <a:t>calcularTotal()  •  nomeCliente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01568"/>
            <a:ext cx="5349240" cy="12344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1" y="3566160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511296"/>
            <a:ext cx="48463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CONSTANTES  /  MAIÚSCULAS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931920"/>
            <a:ext cx="4983479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A9C2C0"/>
                </a:solidFill>
                <a:latin typeface="Aptos"/>
              </a:rPr>
              <a:t>LIMITE_MAXIMO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01568"/>
            <a:ext cx="5349240" cy="12344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82512" y="3566160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3511296"/>
            <a:ext cx="48463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PACOTES  /  minúsculas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31920"/>
            <a:ext cx="4983479" cy="612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A9C2C0"/>
                </a:solidFill>
                <a:latin typeface="Aptos"/>
              </a:rPr>
              <a:t>br.com.empresa.projeto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74920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FF535E"/>
                </a:solidFill>
                <a:latin typeface="Aptos"/>
              </a:rPr>
              <a:t>EVITE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010912"/>
            <a:ext cx="98755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AF9"/>
                </a:solidFill>
                <a:latin typeface="Aptos"/>
              </a:rPr>
              <a:t>Nomes vagos como x, coisa ou dado1. Prefira nomes que indiquem a finalidade.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5. Boas práticas de programação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Código de qualidade é mais simples de ler, testar e manter.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06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74519"/>
            <a:ext cx="352044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" y="203911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198424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LEGIBILIDADE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404872"/>
            <a:ext cx="315468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Indentação, nomes claros e métodos objetivos.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874519"/>
            <a:ext cx="352044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07992" y="203911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198424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SIMPLICIDADE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404872"/>
            <a:ext cx="315468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Evitar repetição e complexidade desnecessária.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874519"/>
            <a:ext cx="352044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11312" y="2039112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98424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REUTILIZAÇÃO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04872"/>
            <a:ext cx="315468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Separar responsabilidades e reaproveitar métodos.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3840480"/>
            <a:ext cx="3520440" cy="132588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87752" y="4005072"/>
            <a:ext cx="109728" cy="109728"/>
          </a:xfrm>
          <a:prstGeom prst="ellipse">
            <a:avLst/>
          </a:prstGeom>
          <a:solidFill>
            <a:srgbClr val="FF5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88920" y="395020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TRATAMENTO DE ERROS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370832"/>
            <a:ext cx="3154680" cy="7040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Validar entradas e tratar exceções esperadas.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80"/>
            <a:ext cx="3520440" cy="132588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82512" y="400507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395020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TESTES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70832"/>
            <a:ext cx="3154680" cy="7040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Verificar se o comportamento está correto.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6. Organização de projeto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Uma estrutura clara facilita o desenvolvimento em equipe.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07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28800"/>
            <a:ext cx="5349240" cy="30632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" y="199339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1938528"/>
            <a:ext cx="48463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ESTRUTURA TÍPICA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359152"/>
            <a:ext cx="4983479" cy="2441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A9C2C0"/>
                </a:solidFill>
                <a:latin typeface="Aptos"/>
              </a:rPr>
              <a:t>src/main/java  — código da aplicação
src/test/java  — testes automatizados
pom.xml  — dependências e configuração Maven
README.md  — instruções do projeto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349240" cy="306324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99339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938528"/>
            <a:ext cx="48463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FERRAMENTAS ESSENCIAIS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59152"/>
            <a:ext cx="4983479" cy="2441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A9C2C0"/>
                </a:solidFill>
                <a:latin typeface="Aptos"/>
              </a:rPr>
              <a:t>Maven: compila, testa e gerencia dependências.
Git: registra versões e permite trabalhar em branches.
Separar código e testes facilita a manutenção.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0F2C4"/>
                </a:solidFill>
                <a:latin typeface="Aptos"/>
              </a:rPr>
              <a:t>Organizar é deixar claro onde cada responsabilidade deve ficar.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7. Dispositivos e plataformas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Java pode atender diferentes cenários de execução.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08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965960"/>
            <a:ext cx="269748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" y="213055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075688"/>
            <a:ext cx="21945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COMPUTADORES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496312"/>
            <a:ext cx="233172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Aplicações desktop e ferramentas.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965960"/>
            <a:ext cx="269748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93592" y="213055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4760" y="2075688"/>
            <a:ext cx="21945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SERVIDORES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496312"/>
            <a:ext cx="233172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APIs, serviços e sistemas empresariais.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965960"/>
            <a:ext cx="233172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28231" y="2130552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075688"/>
            <a:ext cx="1828799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ANDROID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496312"/>
            <a:ext cx="196596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Aplicativos móveis com ferramentas compatíveis.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1965960"/>
            <a:ext cx="2834640" cy="150876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97112" y="213055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98280" y="2075688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NUVEM / EMBARCADOS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496312"/>
            <a:ext cx="2468880" cy="8869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9C2C0"/>
                </a:solidFill>
                <a:latin typeface="Aptos"/>
              </a:rPr>
              <a:t>Serviços cloud e dispositivos especializados.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160520"/>
            <a:ext cx="105156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4FAF9"/>
                </a:solidFill>
                <a:latin typeface="Aptos"/>
              </a:rPr>
              <a:t>A plataforma escolhida influencia desempenho, segurança, bibliotecas e implantação.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00F2C4"/>
                </a:solidFill>
                <a:latin typeface="Aptos"/>
              </a:rPr>
              <a:t>TRANSIÇÃO  →  Aplicações, documentação e ferramentas de qualidade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8. Áreas de atuação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Java aparece em diferentes tipos de solução.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09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783080"/>
            <a:ext cx="10652760" cy="6858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" y="194767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1892807"/>
            <a:ext cx="101498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176273"/>
            <a:ext cx="10287000" cy="64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 dirty="0">
                <a:solidFill>
                  <a:srgbClr val="A9C2C0"/>
                </a:solidFill>
                <a:latin typeface="Aptos"/>
              </a:rPr>
              <a:t>Back-end de sites, APIs e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serviços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642615"/>
            <a:ext cx="10652760" cy="6858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" y="2807208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2752344"/>
            <a:ext cx="101498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SISTEMAS EMPRESARIAIS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15656"/>
            <a:ext cx="10287000" cy="64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 dirty="0">
                <a:solidFill>
                  <a:srgbClr val="A9C2C0"/>
                </a:solidFill>
                <a:latin typeface="Aptos"/>
              </a:rPr>
              <a:t>Sistemas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internos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integrações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transações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02152"/>
            <a:ext cx="10652760" cy="6858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" y="3666744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611880"/>
            <a:ext cx="101498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ANDROID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75192"/>
            <a:ext cx="10287000" cy="64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 dirty="0" err="1">
                <a:solidFill>
                  <a:srgbClr val="A9C2C0"/>
                </a:solidFill>
                <a:latin typeface="Aptos"/>
              </a:rPr>
              <a:t>Aplicativos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móveis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em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 conjunto com o </a:t>
            </a:r>
            <a:r>
              <a:rPr sz="1300" b="0" dirty="0" err="1">
                <a:solidFill>
                  <a:srgbClr val="A9C2C0"/>
                </a:solidFill>
                <a:latin typeface="Aptos"/>
              </a:rPr>
              <a:t>ecossistema</a:t>
            </a:r>
            <a:r>
              <a:rPr sz="1300" b="0" dirty="0">
                <a:solidFill>
                  <a:srgbClr val="A9C2C0"/>
                </a:solidFill>
                <a:latin typeface="Aptos"/>
              </a:rPr>
              <a:t> Android.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361688"/>
            <a:ext cx="10652760" cy="6858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41832" y="4526279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4471416"/>
            <a:ext cx="101498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BIG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34728"/>
            <a:ext cx="10287000" cy="64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Processamento de dados com ferramentas do ecossistema Java.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221224"/>
            <a:ext cx="10652760" cy="6858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1832" y="5385816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5330952"/>
            <a:ext cx="101498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DESKTOP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594264"/>
            <a:ext cx="10287000" cy="64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Aplicações com interface gráfica.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9. Documentação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Documentar explica como usar o projeto e por que decisões foram tomadas.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10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920240"/>
            <a:ext cx="3520440" cy="20574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" y="208483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202996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450592"/>
            <a:ext cx="3154680" cy="14356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Apresenta objetivo, pré-requisitos, instalação e comandos para executar o projeto.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920240"/>
            <a:ext cx="3520440" cy="20574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07992" y="208483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02996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COMENTÁRIOS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450592"/>
            <a:ext cx="3154680" cy="14356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Explicam decisões ou trechos que não são óbvios. Evite repetir o que o código já deixa claro.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920240"/>
            <a:ext cx="3520440" cy="205740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11312" y="2084832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202996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JAVADOC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50592"/>
            <a:ext cx="3154680" cy="14356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Gera documentação a partir de comentários padronizados, especialmente em classes e métodos públicos.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17720"/>
            <a:ext cx="1280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00F2C4"/>
                </a:solidFill>
                <a:latin typeface="Aptos"/>
              </a:rPr>
              <a:t>BENEFÍCIO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1042416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4FAF9"/>
                </a:solidFill>
                <a:latin typeface="Aptos"/>
              </a:rPr>
              <a:t>Menos dúvidas, integração mais rápida de novos desenvolvedores e manutenção facilitada.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10. Ferramentas de lint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Ferramentas automatizadas ajudam a encontrar problemas e padronizar o código.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11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83080"/>
            <a:ext cx="5303520" cy="987552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" y="194767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1892807"/>
            <a:ext cx="4800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CHECKSTYLE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313432"/>
            <a:ext cx="493775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Verifica convenções de estilo, formatação e padrões de nomes.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83080"/>
            <a:ext cx="5303520" cy="987552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194767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892807"/>
            <a:ext cx="4800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PMD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13432"/>
            <a:ext cx="493775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Detecta padrões problemáticos, duplicação e possíveis defeitos.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017520"/>
            <a:ext cx="5303520" cy="987552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1" y="3182112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127248"/>
            <a:ext cx="4800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SPOTBUGS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547872"/>
            <a:ext cx="493775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Analisa bytecode para apontar possíveis bugs.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017520"/>
            <a:ext cx="5303520" cy="987552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28232" y="3182112"/>
            <a:ext cx="109728" cy="109728"/>
          </a:xfrm>
          <a:prstGeom prst="ellipse">
            <a:avLst/>
          </a:prstGeom>
          <a:solidFill>
            <a:srgbClr val="FF5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3127248"/>
            <a:ext cx="4800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SONARQUBE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47872"/>
            <a:ext cx="493775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Reúne análises de qualidade, bugs, vulnerabilidades e manutenção.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51960"/>
            <a:ext cx="5303520" cy="987552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4671" y="441655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361688"/>
            <a:ext cx="4800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F4FAF9"/>
                </a:solidFill>
                <a:latin typeface="Aptos"/>
              </a:rPr>
              <a:t>GOOGLE JAVA FORMAT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782312"/>
            <a:ext cx="493775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Formata o código Java de maneira consistente automaticamente.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00F2C4"/>
                </a:solidFill>
                <a:latin typeface="Aptos"/>
              </a:rPr>
              <a:t>As ferramentas complementam — mas não substituem — revisão humana e testes.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428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58600" y="256032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0" y="47548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6144768"/>
            <a:ext cx="50292" cy="50292"/>
          </a:xfrm>
          <a:prstGeom prst="ellipse">
            <a:avLst/>
          </a:prstGeom>
          <a:solidFill>
            <a:srgbClr val="0D6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AF9"/>
                </a:solidFill>
                <a:latin typeface="Aptos"/>
              </a:rPr>
              <a:t>11. Conclusão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307592"/>
            <a:ext cx="566928" cy="32004"/>
          </a:xfrm>
          <a:prstGeom prst="rect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26464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9C2C0"/>
                </a:solidFill>
                <a:latin typeface="Aptos"/>
              </a:rPr>
              <a:t>Qualidade é resultado de pequenas práticas aplicadas continuamente.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A9C2C0"/>
                </a:solidFill>
                <a:latin typeface="Aptos"/>
              </a:rPr>
              <a:t>12  / 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A9C2C0"/>
                </a:solidFill>
                <a:latin typeface="Aptos"/>
              </a:rPr>
              <a:t>JAVA  //  FUNDAMENTOS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200" b="1">
                <a:solidFill>
                  <a:srgbClr val="00F2C4"/>
                </a:solidFill>
                <a:latin typeface="Aptos"/>
              </a:rPr>
              <a:t>///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920240"/>
            <a:ext cx="3520440" cy="164592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" y="2084832"/>
            <a:ext cx="109728" cy="109728"/>
          </a:xfrm>
          <a:prstGeom prst="ellipse">
            <a:avLst/>
          </a:prstGeom>
          <a:solidFill>
            <a:srgbClr val="00F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202996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CONVENÇÕES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450592"/>
            <a:ext cx="3154680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Nomes consistentes e código legível.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920240"/>
            <a:ext cx="3520440" cy="164592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07992" y="2084832"/>
            <a:ext cx="109728" cy="109728"/>
          </a:xfrm>
          <a:prstGeom prst="ellipse">
            <a:avLst/>
          </a:prstGeom>
          <a:solidFill>
            <a:srgbClr val="31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02996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ORGANIZAÇÃO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450592"/>
            <a:ext cx="3154680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Estrutura, testes, documentação e controle de versão.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920240"/>
            <a:ext cx="3520440" cy="1645920"/>
          </a:xfrm>
          <a:prstGeom prst="roundRect">
            <a:avLst/>
          </a:prstGeom>
          <a:solidFill>
            <a:srgbClr val="051F21"/>
          </a:solidFill>
          <a:ln w="12700">
            <a:solidFill>
              <a:srgbClr val="0D6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11312" y="2084832"/>
            <a:ext cx="109728" cy="109728"/>
          </a:xfrm>
          <a:prstGeom prst="ellipse">
            <a:avLst/>
          </a:prstGeom>
          <a:solidFill>
            <a:srgbClr val="00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2029968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AF9"/>
                </a:solidFill>
                <a:latin typeface="Aptos"/>
              </a:rPr>
              <a:t>AUTOMAÇÃO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50592"/>
            <a:ext cx="3154680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9C2C0"/>
                </a:solidFill>
                <a:latin typeface="Aptos"/>
              </a:rPr>
              <a:t>Lint e análise estática ajudam a detectar problemas cedo.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2194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00F2C4"/>
                </a:solidFill>
                <a:latin typeface="Aptos"/>
              </a:rPr>
              <a:t>MENSAGEM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53712"/>
            <a:ext cx="106984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>
                <a:solidFill>
                  <a:srgbClr val="F4FAF9"/>
                </a:solidFill>
                <a:latin typeface="Aptos"/>
              </a:rPr>
              <a:t>Um bom programa não é apenas aquele que funciona: é aquele que outras pessoas conseguem entender, testar e evoluir.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F2C4"/>
                </a:solidFill>
                <a:latin typeface="Aptos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943</Words>
  <Application>Microsoft Office PowerPoint</Application>
  <PresentationFormat>Widescreen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Caio Kelvin Da Silva</dc:creator>
  <cp:keywords/>
  <dc:description>generated using python-pptx</dc:description>
  <cp:lastModifiedBy>Caio Kelvin Da Silva</cp:lastModifiedBy>
  <cp:revision>2</cp:revision>
  <dcterms:created xsi:type="dcterms:W3CDTF">2013-01-27T09:14:16Z</dcterms:created>
  <dcterms:modified xsi:type="dcterms:W3CDTF">2026-10-28T01:21:14Z</dcterms:modified>
  <cp:category/>
</cp:coreProperties>
</file>